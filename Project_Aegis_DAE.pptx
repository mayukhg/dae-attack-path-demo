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1645920" cy="0"/>
          </a:xfrm>
          <a:prstGeom prst="line">
            <a:avLst/>
          </a:prstGeom>
          <a:noFill/>
          <a:ln w="38100">
            <a:solidFill>
              <a:srgbClr val="C9A84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03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AEGIS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to Dynamic Agentic Defense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Securing Market Leadership in the Era of Mythos-Class AI Threats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QUALYS  |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shift from 'Showing a Map' to 'Operating a Guardian' that autonomously prunes attack surfaces.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874520"/>
            <a:ext cx="54864" cy="640080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8" name="Shape 5"/>
          <p:cNvSpPr/>
          <p:nvPr/>
        </p:nvSpPr>
        <p:spPr>
          <a:xfrm>
            <a:off x="694944" y="187452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68680" y="216712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manual security maps risks in weeks that attackers exploit in minutes.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2651760"/>
            <a:ext cx="54864" cy="640080"/>
          </a:xfrm>
          <a:prstGeom prst="rect">
            <a:avLst/>
          </a:prstGeom>
          <a:solidFill>
            <a:srgbClr val="D85A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4944" y="265176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26974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CATALYST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" y="294436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Mythos-class AI lets adversaries automate Attack Path discovery at zero cost.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3429000"/>
            <a:ext cx="54864" cy="64008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6" name="Shape 13"/>
          <p:cNvSpPr/>
          <p:nvPr/>
        </p:nvSpPr>
        <p:spPr>
          <a:xfrm>
            <a:off x="694944" y="342900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3474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68680" y="372160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Agentic Experience (DAE) for Attack Path — autonomous, real-time defense.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0080" y="4206240"/>
            <a:ext cx="54864" cy="6400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0" name="Shape 17"/>
          <p:cNvSpPr/>
          <p:nvPr/>
        </p:nvSpPr>
        <p:spPr>
          <a:xfrm>
            <a:off x="694944" y="420624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68680" y="449884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reduction in MTTR. First-mover advantage in the Autonomous Security category.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CATALYST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'Mythos' Inflection Point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56616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916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15 min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API → Domain 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for AI-automated attack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1554480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4389120" y="1691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days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572000" y="23774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human triage-to-patch cycle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bringing a knife to a machine-gun fight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474720"/>
            <a:ext cx="786384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Shape 10"/>
          <p:cNvSpPr/>
          <p:nvPr/>
        </p:nvSpPr>
        <p:spPr>
          <a:xfrm>
            <a:off x="640080" y="3474720"/>
            <a:ext cx="54864" cy="1188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68680" y="38404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like Claude Mythos can reason across codebases to find 0-days and chain them into Attack Paths autonomously. Adversaries are no longer individuals — they are </a:t>
            </a:r>
            <a:pPr indent="0" marL="0">
              <a:buNone/>
            </a:pPr>
            <a:r>
              <a:rPr lang="en-US" sz="13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Factories.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Survival in 2027 requires machine-scale defense to counter machine-scale offense.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STATEMENT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Decay of Static Attack Paths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DIAGNOSTIC, NOT SURGICAL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AP tools tell you you're sick but don't perform the surgery. They are dashboards, not agents.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832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D85A30"/>
          </a:solidFill>
          <a:ln/>
        </p:spPr>
      </p:sp>
      <p:sp>
        <p:nvSpPr>
          <p:cNvPr id="12" name="Text 9"/>
          <p:cNvSpPr/>
          <p:nvPr/>
        </p:nvSpPr>
        <p:spPr>
          <a:xfrm>
            <a:off x="35661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SILOS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5661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finds external assets but doesn't 'know' the identity risk in AD until a human connects the dots manually.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Shape 12"/>
          <p:cNvSpPr/>
          <p:nvPr/>
        </p:nvSpPr>
        <p:spPr>
          <a:xfrm>
            <a:off x="6126480" y="1554480"/>
            <a:ext cx="2560320" cy="54864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16" name="Text 13"/>
          <p:cNvSpPr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FATIGUE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093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of critical paths identified in Q1 remain unpatched in Q3. Human bottleneck creates compounding risk.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605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of critical paths from Q1 remain unpatched in Q3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DAE Pillars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378AD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3736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8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AGENT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229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 of ETM, Cloud, and Identity signals. Keeps the path graph alive 24/7.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2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0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7F77D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7373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7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5661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AGENT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5661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5661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 AI that finds routes to crown jewels. Reasons like a Mythos-class attacker to identify choke points.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264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6"/>
          <p:cNvSpPr/>
          <p:nvPr/>
        </p:nvSpPr>
        <p:spPr>
          <a:xfrm>
            <a:off x="6126480" y="1554480"/>
            <a:ext cx="2560320" cy="54864"/>
          </a:xfrm>
          <a:prstGeom prst="rect">
            <a:avLst/>
          </a:prstGeom>
          <a:solidFill>
            <a:srgbClr val="1D9E75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73736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93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3093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AGENT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3093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3093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Goal-oriented pruning via TruConfirm identity challenges and autonomous virtual patches.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'Blue Ocean'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560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  •  Tenable  •  Palo Alto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3774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'Comprehensive Visibility.'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Better Maps — showing more data, more dashboards, more alerts. But they still require humans to interpret and act.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1554480"/>
            <a:ext cx="3794760" cy="2560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3" name="Text 10"/>
          <p:cNvSpPr/>
          <p:nvPr/>
        </p:nvSpPr>
        <p:spPr>
          <a:xfrm>
            <a:off x="489204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QUALYS DAE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9204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Resilience  •  Auto-Pilot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92040" y="23774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TruConfirm integration lets us 'break' paths using Identity as a physical circuit breaker — a capability competitors lack.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 from Vulnerability Management Tool to Business Continuity Partner.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7" name="Shape 14"/>
          <p:cNvSpPr/>
          <p:nvPr/>
        </p:nvSpPr>
        <p:spPr>
          <a:xfrm>
            <a:off x="640080" y="4343400"/>
            <a:ext cx="54864" cy="5029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3434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 SHIFT: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 Tool  →  Business Continuity Partner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 DEMO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Neutralizing the Mythos Path in &lt; 60 seconds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5087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Recon  →  Shadow API  →  RCE  →  Container Escape  →  Domain Admin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1031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2103120"/>
            <a:ext cx="54864" cy="777240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2176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68680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PROBES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17520" y="21945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Mythos-agent finds an undocumented Shadow API on UAT Dev server. Plans RCE via Struts CVE-2023-50164 to jump to host.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0175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080" y="3017520"/>
            <a:ext cx="54864" cy="777240"/>
          </a:xfrm>
          <a:prstGeom prst="rect">
            <a:avLst/>
          </a:prstGeom>
          <a:solidFill>
            <a:srgbClr val="7F77DD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30906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6868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DAE REASONS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017520" y="31089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Agent detects probe. Simulation Agent recognizes Toxic Combination: UAT host has cached Kerberos ticket for Domain Admin.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" y="3931920"/>
            <a:ext cx="54864" cy="77724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40050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6868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DAE INTERCEPTS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017520" y="40233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A: Virtual patch on Shadow API endpoint instantly. Action B: TruConfirm out-of-band challenge for the admin account.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solidFill>
            <a:srgbClr val="0F2E1F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4617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collapsed in &lt; 60 seconds. Analyst receives a Resolution Summary, not an Emergency Alert.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ARCHITECTURE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Leveraging Our Rails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554480"/>
            <a:ext cx="54864" cy="914400"/>
          </a:xfrm>
          <a:prstGeom prst="rect">
            <a:avLst/>
          </a:prstGeom>
          <a:solidFill>
            <a:srgbClr val="378ADD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645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19202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Qualys ETM for the surface map and TruConfirm for identity enforcement. We don't start from scratch.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2651760"/>
            <a:ext cx="54864" cy="914400"/>
          </a:xfrm>
          <a:prstGeom prst="rect">
            <a:avLst/>
          </a:prstGeom>
          <a:solidFill>
            <a:srgbClr val="7F77DD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743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'BRAIN'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3017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Layer — a specialized LLM-based controller that translates Security Goals into Product Actions.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74904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749040"/>
            <a:ext cx="54864" cy="91440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PROTOCOLS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41148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bus for internal tools to communicate intent and context without human middleware.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&amp; Timeline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373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TEAM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10312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Lead AI Architect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Backend / Systems Engineers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Security Researchers (Prompt Eng.)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Product Designer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09160" y="1554480"/>
            <a:ext cx="379476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7373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92040" y="2148840"/>
            <a:ext cx="73152" cy="320040"/>
          </a:xfrm>
          <a:prstGeom prst="rect">
            <a:avLst/>
          </a:prstGeom>
          <a:solidFill>
            <a:srgbClr val="378ADD"/>
          </a:solidFill>
          <a:ln/>
        </p:spPr>
      </p:sp>
      <p:sp>
        <p:nvSpPr>
          <p:cNvPr id="14" name="Text 11"/>
          <p:cNvSpPr/>
          <p:nvPr/>
        </p:nvSpPr>
        <p:spPr>
          <a:xfrm>
            <a:off x="5074920" y="2148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— Mapping + Simulation Agents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92040" y="2606040"/>
            <a:ext cx="73152" cy="320040"/>
          </a:xfrm>
          <a:prstGeom prst="rect">
            <a:avLst/>
          </a:prstGeom>
          <a:solidFill>
            <a:srgbClr val="7F77DD"/>
          </a:solidFill>
          <a:ln/>
        </p:spPr>
      </p:sp>
      <p:sp>
        <p:nvSpPr>
          <p:cNvPr id="17" name="Text 14"/>
          <p:cNvSpPr/>
          <p:nvPr/>
        </p:nvSpPr>
        <p:spPr>
          <a:xfrm>
            <a:off x="5074920" y="2606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943600" y="2606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— Remediation + TruConfirm integration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92040" y="3063240"/>
            <a:ext cx="73152" cy="32004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0" name="Text 17"/>
          <p:cNvSpPr/>
          <p:nvPr/>
        </p:nvSpPr>
        <p:spPr>
          <a:xfrm>
            <a:off x="5074920" y="3063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0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Launch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" y="3840480"/>
            <a:ext cx="786384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Shape 20"/>
          <p:cNvSpPr/>
          <p:nvPr/>
        </p:nvSpPr>
        <p:spPr>
          <a:xfrm>
            <a:off x="640080" y="3840480"/>
            <a:ext cx="54864" cy="9601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39136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HIGHLIGHTS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14400" y="4160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91440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cost of a single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Admin breach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474720" y="4160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347472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human-hours per incident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035040" y="4160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10×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03504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volume handled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existing SOC team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00584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'Stop Mapping. Start Defending.'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1828800"/>
            <a:ext cx="54864" cy="12344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920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PERSONA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"Overwhelmed CISO" — too many tools, not enough people. Needs autonomous reduction, not more dashboards.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4754880" y="1828800"/>
            <a:ext cx="54864" cy="123444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920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 GROWTH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937760" y="2240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Path Simulation shows prospects exactly how a Mythos-class attacker would compromise them in minutes.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329184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3291840"/>
            <a:ext cx="54864" cy="1234440"/>
          </a:xfrm>
          <a:prstGeom prst="rect">
            <a:avLst/>
          </a:prstGeom>
          <a:solidFill>
            <a:srgbClr val="378ADD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DAE as core intelligence for MSSP partners, enabling "Autonomous SOC-as-a-Service."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54880" y="329184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Shape 17"/>
          <p:cNvSpPr/>
          <p:nvPr/>
        </p:nvSpPr>
        <p:spPr>
          <a:xfrm>
            <a:off x="4754880" y="3291840"/>
            <a:ext cx="54864" cy="1234440"/>
          </a:xfrm>
          <a:prstGeom prst="rect">
            <a:avLst/>
          </a:prstGeom>
          <a:solidFill>
            <a:srgbClr val="7F77DD"/>
          </a:solidFill>
          <a:ln/>
        </p:spPr>
      </p:sp>
      <p:sp>
        <p:nvSpPr>
          <p:cNvPr id="21" name="Text 18"/>
          <p:cNvSpPr/>
          <p:nvPr/>
        </p:nvSpPr>
        <p:spPr>
          <a:xfrm>
            <a:off x="4937760" y="33832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93776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 as new Premium tier for ETM/VMDR, projected incremental ARR in Year 1.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1645920" cy="0"/>
          </a:xfrm>
          <a:prstGeom prst="line">
            <a:avLst/>
          </a:prstGeom>
          <a:noFill/>
          <a:ln w="38100">
            <a:solidFill>
              <a:srgbClr val="C9A84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CALL TO ACTION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Factories are already here. We cannot 'wait and see.'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0040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32004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80160" y="32004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seed funding for the Proof of Concept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70332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370332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37033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80160" y="37033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the Tiger Team headcount (8 engineers)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420624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42062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0160" y="42062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Prototype at the next Strategic Review Board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4709160"/>
            <a:ext cx="7772400" cy="0"/>
          </a:xfrm>
          <a:prstGeom prst="line">
            <a:avLst/>
          </a:prstGeom>
          <a:noFill/>
          <a:ln w="12700">
            <a:solidFill>
              <a:srgbClr val="C9A84C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64008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future of security is not a dashboard. It is an agent. Let's build it.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Aegis: Dynamic Agentic Defense</dc:title>
  <dc:subject>PptxGenJS Presentation</dc:subject>
  <dc:creator>Qualys Strategy</dc:creator>
  <cp:lastModifiedBy>Qualys Strategy</cp:lastModifiedBy>
  <cp:revision>1</cp:revision>
  <dcterms:created xsi:type="dcterms:W3CDTF">2026-04-23T07:08:32Z</dcterms:created>
  <dcterms:modified xsi:type="dcterms:W3CDTF">2026-04-23T07:08:32Z</dcterms:modified>
</cp:coreProperties>
</file>