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21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2552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1645920" cy="0"/>
          </a:xfrm>
          <a:prstGeom prst="line">
            <a:avLst/>
          </a:prstGeom>
          <a:noFill/>
          <a:ln w="381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1031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AEGIS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Transitioning to Dynamic Agentic Defense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3291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Securing Market Leadership in the Era of Mythos-Class AI Threats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QUALYS  |  CONFIDENTIAL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0515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shift from 'Showing a Map' to 'Operating a Guardian' that autonomously prunes attack surfaces.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874520"/>
            <a:ext cx="54864" cy="640080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94944" y="1874520"/>
            <a:ext cx="7808976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1920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68680" y="216712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manual security maps risks in weeks that attackers exploit in minutes.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2651760"/>
            <a:ext cx="54864" cy="64008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94944" y="2651760"/>
            <a:ext cx="7808976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68680" y="26974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CATALYST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8680" y="294436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Mythos-class AI lets adversaries automate Attack Path discovery at zero cost.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3429000"/>
            <a:ext cx="54864" cy="6400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94944" y="3429000"/>
            <a:ext cx="7808976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68680" y="3474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68680" y="372160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Agentic Experience (DAE) for Attack Path — autonomous, real-time defense.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0080" y="4206240"/>
            <a:ext cx="54864" cy="64008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694944" y="4206240"/>
            <a:ext cx="7808976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6868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68680" y="449884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reduction in MTTR. First-mover advantage in the Autonomous Security category.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STRATEGIC CATALYST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'Mythos' Inflection Point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3566160" cy="1645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6916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24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15 min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API → Domain Admin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for AI-automated attack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1554480"/>
            <a:ext cx="4114800" cy="16459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389120" y="1691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days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572000" y="23774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human triage-to-patch cycle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bringing a knife to a machine-gun fight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3474720"/>
            <a:ext cx="7863840" cy="11887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40080" y="3474720"/>
            <a:ext cx="54864" cy="118872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6868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68680" y="38404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like Claude Mythos can reason across codebases to find 0-days and chain them into Attack Paths autonomously. Adversaries are no longer individuals — they are </a:t>
            </a:r>
            <a:r>
              <a:rPr lang="en-US" sz="13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Factories.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Survival in 2027 requires machine-scale defense to counter machine-scale offense.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STATEMENT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Decay of Static Attack Paths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2560320" cy="2377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560320" cy="54864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DIAGNOSTIC, NOT SURGICAL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AP tools tell you you're sick but don't perform the surgery. They are dashboards, not agents.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83280" y="1554480"/>
            <a:ext cx="2560320" cy="2377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383280" y="1554480"/>
            <a:ext cx="2560320" cy="54864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661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SILOS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566160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finds external assets but doesn't 'know' the identity risk in AD until a human connects the dots manually.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1554480"/>
            <a:ext cx="2560320" cy="2377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126480" y="1554480"/>
            <a:ext cx="2560320" cy="54864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09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FATIGUE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09360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of critical paths identified in Q1 remain unpatched in Q3. Human bottleneck creates compounding risk.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22960" y="41605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4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of critical paths from Q1 remain unpatched in Q3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DAE Pillars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2560320" cy="30175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560320" cy="54864"/>
          </a:xfrm>
          <a:prstGeom prst="rect">
            <a:avLst/>
          </a:prstGeom>
          <a:solidFill>
            <a:srgbClr val="378AD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173736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1755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78A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AGENT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2296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ingestion of ETM, Cloud, and Identity signals. Keeps the path graph alive 24/7.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3280" y="1554480"/>
            <a:ext cx="2560320" cy="30175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3383280" y="1554480"/>
            <a:ext cx="2560320" cy="54864"/>
          </a:xfrm>
          <a:prstGeom prst="rect">
            <a:avLst/>
          </a:prstGeom>
          <a:solidFill>
            <a:srgbClr val="7F77D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17373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66160" y="1755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F77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3566160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AGENT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356616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3566160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Team AI that finds routes to crown jewels. Reasons like a Mythos-class attacker to identify choke points.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126480" y="1554480"/>
            <a:ext cx="2560320" cy="30175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126480" y="1554480"/>
            <a:ext cx="2560320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3736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9360" y="1755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309360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AGENT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30936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6309360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Goal-oriented pruning via TruConfirm identity challenges and autonomous virtual patches.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'Blue Ocean'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3794760" cy="25603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794760" cy="54864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011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  •  Tenable  •  Palo Alto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23774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'Comprehensive Visibility.'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Better Maps — showing more data, more dashboards, more alerts. But they still require humans to interpret and act.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1554480"/>
            <a:ext cx="3794760" cy="256032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09160" y="1554480"/>
            <a:ext cx="3794760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892040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QUALYS DAE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892040" y="2011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Resilience  •  Auto-Pilot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92040" y="23774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TruConfirm integration lets us 'break' paths using Identity as a physical circuit breaker — a capability competitors lack.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 from Vulnerability Management Tool to Business Continuity Partner.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343400"/>
            <a:ext cx="7863840" cy="50292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40080" y="4343400"/>
            <a:ext cx="54864" cy="50292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8680" y="43434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POSITION SHIFT: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Management Tool  →  Business Continuity Partner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 DEMO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Neutralizing the Mythos Path in &lt; 60 seconds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7863840" cy="4114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150876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Recon  →  Shadow API  →  RCE  →  Container Escape  →  Domain Admin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103120"/>
            <a:ext cx="7863840" cy="7772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40080" y="2103120"/>
            <a:ext cx="54864" cy="777240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68680" y="21762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68680" y="2377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PROBES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17520" y="21945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Mythos-agent finds an undocumented Shadow API on UAT Dev server. Plans RCE via Struts CVE-2023-50164 to jump to host.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3017520"/>
            <a:ext cx="7863840" cy="7772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40080" y="3017520"/>
            <a:ext cx="54864" cy="777240"/>
          </a:xfrm>
          <a:prstGeom prst="rect">
            <a:avLst/>
          </a:prstGeom>
          <a:solidFill>
            <a:srgbClr val="7F77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30906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6868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DAE REASONS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017520" y="31089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Agent detects probe. Simulation Agent recognizes Toxic Combination: UAT host has cached Kerberos ticket for Domain Admin.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7863840" cy="7772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40080" y="3931920"/>
            <a:ext cx="54864" cy="7772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68680" y="40050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6868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DAE INTERCEPTS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017520" y="40233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A: Virtual patch on Shadow API endpoint instantly. Action B: TruConfirm out-of-band challenge for the admin account.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solidFill>
            <a:srgbClr val="0F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22960" y="4617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collapsed in &lt; 60 seconds. Analyst receives a Resolution Summary, not an Emergency Alert.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0" y="1828800"/>
            <a:ext cx="329184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0"/>
          <p:cNvSpPr/>
          <p:nvPr/>
        </p:nvSpPr>
        <p:spPr>
          <a:xfrm>
            <a:off x="2926080" y="1828800"/>
            <a:ext cx="329184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me show you what this looks like.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6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CONTRAST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dashboard vs. Agent DAE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3794760" cy="2926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794760" cy="54864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17190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MANUAL DASHBOARD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2011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ManualDashboard.js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2331720"/>
            <a:ext cx="73152" cy="73152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51560" y="22677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table of discovered paths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2697480"/>
            <a:ext cx="73152" cy="73152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51560" y="26334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'Trigger Simulation' button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22960" y="3063240"/>
            <a:ext cx="73152" cy="73152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051560" y="29992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alert with no remediation logic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22960" y="3429000"/>
            <a:ext cx="73152" cy="73152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51560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'Deploy Fixes' — no validation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2960" y="3794760"/>
            <a:ext cx="73152" cy="73152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51560" y="37307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PCS scoring or re-verification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709160" y="1554480"/>
            <a:ext cx="3794760" cy="2926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709160" y="1554480"/>
            <a:ext cx="3794760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92040" y="17190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AGENT DAE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892040" y="2011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AgentDaeChat.js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892040" y="2331720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120640" y="2267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greets + maps live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892040" y="2697480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120640" y="2633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agent auto-discovers topology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892040" y="3063240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120640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agent traverses, flags PCS 9.9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892040" y="3429000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5120640" y="3364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agent deploys WAF + MFA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892040" y="3794760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5120640" y="37307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re-validates: PCS drops to 7.7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640080" y="4663440"/>
            <a:ext cx="54864" cy="32004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868680" y="46634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toggle. Same data. Completely different operational paradigm.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9 / 15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2"/>
          <p:cNvSpPr/>
          <p:nvPr/>
        </p:nvSpPr>
        <p:spPr>
          <a:xfrm>
            <a:off x="640080" y="4663440"/>
            <a:ext cx="54864" cy="32004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3"/>
          <p:cNvSpPr/>
          <p:nvPr/>
        </p:nvSpPr>
        <p:spPr>
          <a:xfrm>
            <a:off x="868680" y="46634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toggle. Same data. Completely different operational paradigm.</a:t>
            </a:r>
            <a:endParaRPr lang="en-US" sz="1200" dirty="0"/>
          </a:p>
        </p:txBody>
      </p:sp>
      <p:sp>
        <p:nvSpPr>
          <p:cNvPr id="41" name="Text 3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ARCHITECTURE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prototype is wired</a:t>
            </a:r>
            <a:endParaRPr lang="en-US" sz="2200" dirty="0"/>
          </a:p>
        </p:txBody>
      </p:sp>
      <p:pic>
        <p:nvPicPr>
          <p:cNvPr id="6" name="Image 1" descr="/mnt/user-data/outputs/app_agent_flow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71600" y="1463040"/>
            <a:ext cx="6400800" cy="3383280"/>
          </a:xfrm>
          <a:prstGeom prst="rect">
            <a:avLst/>
          </a:prstGeom>
        </p:spPr>
      </p:pic>
      <p:pic>
        <p:nvPicPr>
          <p:cNvPr id="10" name="Image 1" descr="/mnt/user-data/outputs/app_agent_flow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371600" y="1463040"/>
            <a:ext cx="6400800" cy="33832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22960" y="4617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+  React Flow  +  Modular agent state machine  |  github.com/mayukhg/dae-attack-path-demo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vs. PRODUCTION</a:t>
            </a:r>
            <a:endParaRPr lang="en-US" sz="1100" dirty="0"/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7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vs. PRODUCTION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just saw vs. what we will build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3794760" cy="2926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79476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17190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SIMULATES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" y="2148840"/>
            <a:ext cx="73152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51560" y="20848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machine (scripted phases)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2587752"/>
            <a:ext cx="73152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051560" y="25237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node/edge topology data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3026664"/>
            <a:ext cx="73152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51560" y="296265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Chat-driven agent with static responses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" y="3465576"/>
            <a:ext cx="73152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051560" y="34015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PCS scoring from preset values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22960" y="3904488"/>
            <a:ext cx="73152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05156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Single-path demo scenario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09160" y="1554480"/>
            <a:ext cx="3794760" cy="29260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709160" y="1554480"/>
            <a:ext cx="3794760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892040" y="17190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WILL DO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892040" y="2148840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120640" y="20848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reasoning (Claude / ExPRT.AI)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892040" y="2587752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120640" y="252374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ETM + CSAM + VMDR telemetry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892040" y="3026664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120640" y="29626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TruConfirm identity circuit breakers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892040" y="3465576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120640" y="3401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agent orchestration protocols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892040" y="3904488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5120640" y="3840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Multi-path, real-time graph at scale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640080" y="4663440"/>
            <a:ext cx="54864" cy="32004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868680" y="46634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proves the interaction model. Project Aegis builds the intelligence behind it.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11 / 15</a:t>
            </a:r>
            <a:endParaRPr lang="en-US" sz="900" dirty="0"/>
          </a:p>
        </p:txBody>
      </p:sp>
      <p:sp>
        <p:nvSpPr>
          <p:cNvPr id="38" name="Text 18"/>
          <p:cNvSpPr/>
          <p:nvPr/>
        </p:nvSpPr>
        <p:spPr>
          <a:xfrm>
            <a:off x="4892040" y="17190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WILL DO</a:t>
            </a:r>
            <a:endParaRPr lang="en-US" sz="1000" dirty="0"/>
          </a:p>
        </p:txBody>
      </p:sp>
      <p:sp>
        <p:nvSpPr>
          <p:cNvPr id="39" name="Shape 19"/>
          <p:cNvSpPr/>
          <p:nvPr/>
        </p:nvSpPr>
        <p:spPr>
          <a:xfrm>
            <a:off x="4892040" y="2148840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20"/>
          <p:cNvSpPr/>
          <p:nvPr/>
        </p:nvSpPr>
        <p:spPr>
          <a:xfrm>
            <a:off x="5120640" y="20848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reasoning (Claude / ExPRT.AI)</a:t>
            </a:r>
            <a:endParaRPr lang="en-US" sz="1100" dirty="0"/>
          </a:p>
        </p:txBody>
      </p:sp>
      <p:sp>
        <p:nvSpPr>
          <p:cNvPr id="41" name="Shape 21"/>
          <p:cNvSpPr/>
          <p:nvPr/>
        </p:nvSpPr>
        <p:spPr>
          <a:xfrm>
            <a:off x="4892040" y="2587752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22"/>
          <p:cNvSpPr/>
          <p:nvPr/>
        </p:nvSpPr>
        <p:spPr>
          <a:xfrm>
            <a:off x="5120640" y="252374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ETM + CSAM + VMDR telemetry</a:t>
            </a:r>
            <a:endParaRPr lang="en-US" sz="1100" dirty="0"/>
          </a:p>
        </p:txBody>
      </p:sp>
      <p:sp>
        <p:nvSpPr>
          <p:cNvPr id="43" name="Shape 23"/>
          <p:cNvSpPr/>
          <p:nvPr/>
        </p:nvSpPr>
        <p:spPr>
          <a:xfrm>
            <a:off x="4892040" y="3026664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24"/>
          <p:cNvSpPr/>
          <p:nvPr/>
        </p:nvSpPr>
        <p:spPr>
          <a:xfrm>
            <a:off x="5120640" y="29626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TruConfirm identity circuit breakers</a:t>
            </a:r>
            <a:endParaRPr lang="en-US" sz="1100" dirty="0"/>
          </a:p>
        </p:txBody>
      </p:sp>
      <p:sp>
        <p:nvSpPr>
          <p:cNvPr id="45" name="Shape 25"/>
          <p:cNvSpPr/>
          <p:nvPr/>
        </p:nvSpPr>
        <p:spPr>
          <a:xfrm>
            <a:off x="4892040" y="3465576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26"/>
          <p:cNvSpPr/>
          <p:nvPr/>
        </p:nvSpPr>
        <p:spPr>
          <a:xfrm>
            <a:off x="5120640" y="3401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agent orchestration protocols</a:t>
            </a:r>
            <a:endParaRPr lang="en-US" sz="1100" dirty="0"/>
          </a:p>
        </p:txBody>
      </p:sp>
      <p:sp>
        <p:nvSpPr>
          <p:cNvPr id="47" name="Shape 27"/>
          <p:cNvSpPr/>
          <p:nvPr/>
        </p:nvSpPr>
        <p:spPr>
          <a:xfrm>
            <a:off x="4892040" y="3904488"/>
            <a:ext cx="73152" cy="7315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28"/>
          <p:cNvSpPr/>
          <p:nvPr/>
        </p:nvSpPr>
        <p:spPr>
          <a:xfrm>
            <a:off x="5120640" y="3840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Multi-path, real-time graph at scale</a:t>
            </a:r>
            <a:endParaRPr lang="en-US" sz="1100" dirty="0"/>
          </a:p>
        </p:txBody>
      </p:sp>
      <p:sp>
        <p:nvSpPr>
          <p:cNvPr id="49" name="Shape 29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30"/>
          <p:cNvSpPr/>
          <p:nvPr/>
        </p:nvSpPr>
        <p:spPr>
          <a:xfrm>
            <a:off x="640080" y="4663440"/>
            <a:ext cx="54864" cy="32004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31"/>
          <p:cNvSpPr/>
          <p:nvPr/>
        </p:nvSpPr>
        <p:spPr>
          <a:xfrm>
            <a:off x="868680" y="46634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proves the interaction model. Project Aegis builds the intelligence behind it.</a:t>
            </a:r>
            <a:endParaRPr lang="en-US" sz="1200" dirty="0"/>
          </a:p>
        </p:txBody>
      </p:sp>
      <p:sp>
        <p:nvSpPr>
          <p:cNvPr id="52" name="Text 3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ARCHITECTURE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Leveraging Our Rails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7863840" cy="9144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4864" cy="914400"/>
          </a:xfrm>
          <a:prstGeom prst="rect">
            <a:avLst/>
          </a:prstGeom>
          <a:solidFill>
            <a:srgbClr val="378A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1645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19202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Qualys ETM for the surface map and TruConfirm for identity enforcement. We don't start from scratch.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7863840" cy="9144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0080" y="2651760"/>
            <a:ext cx="54864" cy="914400"/>
          </a:xfrm>
          <a:prstGeom prst="rect">
            <a:avLst/>
          </a:prstGeom>
          <a:solidFill>
            <a:srgbClr val="7F77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2743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'BRAIN'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" y="3017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Layer — a specialized LLM-based controller that translates Security Goals into Product Actions.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749040"/>
            <a:ext cx="7863840" cy="9144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0080" y="3749040"/>
            <a:ext cx="54864" cy="9144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PROTOCOLS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" y="41148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bus for internal tools to communicate intent and context without human middleware.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 CASE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Autonomous Remediation Pays for Itself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3794760" cy="2377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794760" cy="54864"/>
          </a:xfrm>
          <a:prstGeom prst="rect">
            <a:avLst/>
          </a:prstGeom>
          <a:solidFill>
            <a:srgbClr val="E24B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17190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INACTION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0848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24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$4.4M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965960" y="20848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cost of a single Domain Admin compromise (IBM Data Breach Report)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2679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24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days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965960" y="26791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remediate — every day is an open exposure window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32735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24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965960" y="3273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critical paths from Q1 remain unpatched in Q3, compounding liability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709160" y="1554480"/>
            <a:ext cx="3794760" cy="2377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709160" y="1554480"/>
            <a:ext cx="3794760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892040" y="171907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DAE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892040" y="20848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035040" y="20848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reduction — remediation in minutes, not weeks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892040" y="2679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85%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035040" y="26791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human-hours per incident, freeing SOC for strategic work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892040" y="32735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10x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035040" y="32735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volume handled by existing team, zero headcount growth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0080" y="4160520"/>
            <a:ext cx="7863840" cy="7772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640080" y="4160520"/>
            <a:ext cx="54864" cy="77724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868680" y="4187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ECONOMIC IMPACT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914400" y="44074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$4.4M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14400" y="46085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per Domain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breach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3474720" y="44074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85%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3474720" y="46085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savings 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035040" y="44074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10x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6035040" y="46085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multiplier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headcount add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"/>
            <a:ext cx="320040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804672"/>
            <a:ext cx="7772400" cy="0"/>
          </a:xfrm>
          <a:prstGeom prst="line">
            <a:avLst/>
          </a:prstGeom>
          <a:noFill/>
          <a:ln w="254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40080" y="1005840"/>
            <a:ext cx="7863840" cy="5943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00584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'Stop Mapping. Start Defending.'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3840480" cy="1234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0080" y="1828800"/>
            <a:ext cx="54864" cy="123444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19202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PERSONA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2240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"Overwhelmed CISO" — too many tools, not enough people. Needs autonomous reduction, not more dashboards.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828800"/>
            <a:ext cx="3840480" cy="1234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54864" cy="1234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937760" y="19202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 GROWTH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937760" y="2240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Path Simulation shows prospects exactly how a Mythos-class attacker would compromise them in minutes.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3291840"/>
            <a:ext cx="3840480" cy="1234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0080" y="3291840"/>
            <a:ext cx="54864" cy="1234440"/>
          </a:xfrm>
          <a:prstGeom prst="rect">
            <a:avLst/>
          </a:prstGeom>
          <a:solidFill>
            <a:srgbClr val="378A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22960" y="33832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STRATEGY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DAE as core intelligence for MSSP partners, enabling "Autonomous SOC-as-a-Service."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754880" y="3291840"/>
            <a:ext cx="3840480" cy="1234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754880" y="3291840"/>
            <a:ext cx="54864" cy="1234440"/>
          </a:xfrm>
          <a:prstGeom prst="rect">
            <a:avLst/>
          </a:prstGeom>
          <a:solidFill>
            <a:srgbClr val="7F77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937760" y="33832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93776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 as new Premium tier for ETM/VMDR, projected incremental ARR in Year 1.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1645920" cy="0"/>
          </a:xfrm>
          <a:prstGeom prst="line">
            <a:avLst/>
          </a:prstGeom>
          <a:noFill/>
          <a:ln w="381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0116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CALL TO ACTION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Factories are already here. We cannot 'wait and see.'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3200400"/>
            <a:ext cx="7863840" cy="4114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40080" y="3200400"/>
            <a:ext cx="54864" cy="41148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32004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80160" y="32004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seed funding for the Proof of Concept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3703320"/>
            <a:ext cx="7863840" cy="4114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0080" y="3703320"/>
            <a:ext cx="54864" cy="41148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7033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280160" y="37033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the Tiger Team headcount (8 engineers)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0080" y="4206240"/>
            <a:ext cx="54864" cy="41148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42062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280160" y="42062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Prototype at the next Strategic Review Board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4709160"/>
            <a:ext cx="7772400" cy="0"/>
          </a:xfrm>
          <a:prstGeom prst="line">
            <a:avLst/>
          </a:prstGeom>
          <a:noFill/>
          <a:ln w="1270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future of security is not a dashboard. It is an agent. Let's build it.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1221</Words>
  <Application>Microsoft Office PowerPoint</Application>
  <PresentationFormat>On-screen Show (16:9)</PresentationFormat>
  <Paragraphs>204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Aegis: Dynamic Agentic Defense</dc:title>
  <dc:subject>PptxGenJS Presentation</dc:subject>
  <dc:creator>Qualys Strategy</dc:creator>
  <cp:lastModifiedBy>Mayukh Ghosh</cp:lastModifiedBy>
  <cp:revision>1</cp:revision>
  <dcterms:created xsi:type="dcterms:W3CDTF">2026-04-23T10:22:39Z</dcterms:created>
  <dcterms:modified xsi:type="dcterms:W3CDTF">2026-04-23T10:24:36Z</dcterms:modified>
</cp:coreProperties>
</file>